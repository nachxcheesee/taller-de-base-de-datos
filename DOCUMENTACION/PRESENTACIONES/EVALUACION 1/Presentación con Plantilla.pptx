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" charset="1" panose="020B0606030504020204"/>
      <p:regular r:id="rId24"/>
    </p:embeddedFont>
    <p:embeddedFont>
      <p:font typeface="Norwester" charset="1" panose="00000506000000000000"/>
      <p:regular r:id="rId25"/>
    </p:embeddedFont>
    <p:embeddedFont>
      <p:font typeface="Open Sans Bold" charset="1" panose="020B08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3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00023" y="460781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375" y="998175"/>
            <a:ext cx="13487213" cy="8058877"/>
          </a:xfrm>
          <a:custGeom>
            <a:avLst/>
            <a:gdLst/>
            <a:ahLst/>
            <a:cxnLst/>
            <a:rect r="r" b="b" t="t" l="l"/>
            <a:pathLst>
              <a:path h="8058877" w="13487213">
                <a:moveTo>
                  <a:pt x="0" y="0"/>
                </a:moveTo>
                <a:lnTo>
                  <a:pt x="13487213" y="0"/>
                </a:lnTo>
                <a:lnTo>
                  <a:pt x="13487213" y="8058877"/>
                </a:lnTo>
                <a:lnTo>
                  <a:pt x="0" y="8058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58" t="0" r="-475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22361">
            <a:off x="11977004" y="7847878"/>
            <a:ext cx="2665463" cy="2668799"/>
          </a:xfrm>
          <a:custGeom>
            <a:avLst/>
            <a:gdLst/>
            <a:ahLst/>
            <a:cxnLst/>
            <a:rect r="r" b="b" t="t" l="l"/>
            <a:pathLst>
              <a:path h="2668799" w="2665463">
                <a:moveTo>
                  <a:pt x="0" y="0"/>
                </a:moveTo>
                <a:lnTo>
                  <a:pt x="2665463" y="0"/>
                </a:lnTo>
                <a:lnTo>
                  <a:pt x="2665463" y="2668799"/>
                </a:lnTo>
                <a:lnTo>
                  <a:pt x="0" y="2668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0742">
            <a:off x="15286838" y="742967"/>
            <a:ext cx="2323497" cy="3139860"/>
          </a:xfrm>
          <a:custGeom>
            <a:avLst/>
            <a:gdLst/>
            <a:ahLst/>
            <a:cxnLst/>
            <a:rect r="r" b="b" t="t" l="l"/>
            <a:pathLst>
              <a:path h="3139860" w="2323497">
                <a:moveTo>
                  <a:pt x="0" y="0"/>
                </a:moveTo>
                <a:lnTo>
                  <a:pt x="2323497" y="0"/>
                </a:lnTo>
                <a:lnTo>
                  <a:pt x="2323497" y="3139861"/>
                </a:lnTo>
                <a:lnTo>
                  <a:pt x="0" y="3139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838801">
            <a:off x="15471739" y="6853626"/>
            <a:ext cx="2365306" cy="3349106"/>
          </a:xfrm>
          <a:custGeom>
            <a:avLst/>
            <a:gdLst/>
            <a:ahLst/>
            <a:cxnLst/>
            <a:rect r="r" b="b" t="t" l="l"/>
            <a:pathLst>
              <a:path h="3349106" w="2365306">
                <a:moveTo>
                  <a:pt x="2365306" y="0"/>
                </a:moveTo>
                <a:lnTo>
                  <a:pt x="0" y="0"/>
                </a:lnTo>
                <a:lnTo>
                  <a:pt x="0" y="3349106"/>
                </a:lnTo>
                <a:lnTo>
                  <a:pt x="2365306" y="3349106"/>
                </a:lnTo>
                <a:lnTo>
                  <a:pt x="2365306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862706">
            <a:off x="11740370" y="337937"/>
            <a:ext cx="1800866" cy="2182868"/>
          </a:xfrm>
          <a:custGeom>
            <a:avLst/>
            <a:gdLst/>
            <a:ahLst/>
            <a:cxnLst/>
            <a:rect r="r" b="b" t="t" l="l"/>
            <a:pathLst>
              <a:path h="2182868" w="1800866">
                <a:moveTo>
                  <a:pt x="0" y="0"/>
                </a:moveTo>
                <a:lnTo>
                  <a:pt x="1800866" y="0"/>
                </a:lnTo>
                <a:lnTo>
                  <a:pt x="1800866" y="2182867"/>
                </a:lnTo>
                <a:lnTo>
                  <a:pt x="0" y="21828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840451">
            <a:off x="2044820" y="9134486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2129944">
            <a:off x="6054834" y="-86345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15847" y="7115304"/>
            <a:ext cx="9936848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4641A1"/>
                </a:solidFill>
                <a:latin typeface="Open Sans"/>
                <a:ea typeface="Open Sans"/>
                <a:cs typeface="Open Sans"/>
                <a:sym typeface="Open Sans"/>
              </a:rPr>
              <a:t>Ignacio Catalán, Brayan Gonzaléz y Jeremy Ibáñez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9795" y="-392106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8819" y="2505736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1207549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801769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37218" y="308880"/>
            <a:ext cx="3417691" cy="3421968"/>
          </a:xfrm>
          <a:custGeom>
            <a:avLst/>
            <a:gdLst/>
            <a:ahLst/>
            <a:cxnLst/>
            <a:rect r="r" b="b" t="t" l="l"/>
            <a:pathLst>
              <a:path h="3421968" w="3417691">
                <a:moveTo>
                  <a:pt x="0" y="0"/>
                </a:moveTo>
                <a:lnTo>
                  <a:pt x="3417691" y="0"/>
                </a:lnTo>
                <a:lnTo>
                  <a:pt x="3417691" y="3421968"/>
                </a:lnTo>
                <a:lnTo>
                  <a:pt x="0" y="34219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42400" y="5761469"/>
            <a:ext cx="2087326" cy="2530093"/>
          </a:xfrm>
          <a:custGeom>
            <a:avLst/>
            <a:gdLst/>
            <a:ahLst/>
            <a:cxnLst/>
            <a:rect r="r" b="b" t="t" l="l"/>
            <a:pathLst>
              <a:path h="2530093" w="2087326">
                <a:moveTo>
                  <a:pt x="0" y="0"/>
                </a:moveTo>
                <a:lnTo>
                  <a:pt x="2087326" y="0"/>
                </a:lnTo>
                <a:lnTo>
                  <a:pt x="2087326" y="2530092"/>
                </a:lnTo>
                <a:lnTo>
                  <a:pt x="0" y="25300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16732" y="758831"/>
            <a:ext cx="9429452" cy="10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descripcion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6242" y="3355119"/>
            <a:ext cx="13161220" cy="3340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37"/>
              </a:lnSpc>
            </a:pPr>
            <a:r>
              <a:rPr lang="en-US" sz="2383" b="true">
                <a:solidFill>
                  <a:srgbClr val="4641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ChileRemates</a:t>
            </a:r>
            <a:r>
              <a:rPr lang="en-US" sz="2383">
                <a:solidFill>
                  <a:srgbClr val="4641A1"/>
                </a:solidFill>
                <a:latin typeface="Open Sans"/>
                <a:ea typeface="Open Sans"/>
                <a:cs typeface="Open Sans"/>
                <a:sym typeface="Open Sans"/>
              </a:rPr>
              <a:t> es una plataforma chilena orient</a:t>
            </a:r>
            <a:r>
              <a:rPr lang="en-US" sz="2383">
                <a:solidFill>
                  <a:srgbClr val="4641A1"/>
                </a:solidFill>
                <a:latin typeface="Open Sans"/>
                <a:ea typeface="Open Sans"/>
                <a:cs typeface="Open Sans"/>
                <a:sym typeface="Open Sans"/>
              </a:rPr>
              <a:t>ada a la compra, venta y subasta en tiempo real de artículos nuevos y usados clasificados por categorías.</a:t>
            </a:r>
          </a:p>
          <a:p>
            <a:pPr algn="just">
              <a:lnSpc>
                <a:spcPts val="3337"/>
              </a:lnSpc>
            </a:pPr>
          </a:p>
          <a:p>
            <a:pPr algn="just">
              <a:lnSpc>
                <a:spcPts val="3337"/>
              </a:lnSpc>
            </a:pPr>
            <a:r>
              <a:rPr lang="en-US" sz="2383">
                <a:solidFill>
                  <a:srgbClr val="4641A1"/>
                </a:solidFill>
                <a:latin typeface="Open Sans"/>
                <a:ea typeface="Open Sans"/>
                <a:cs typeface="Open Sans"/>
                <a:sym typeface="Open Sans"/>
              </a:rPr>
              <a:t>La empresa </a:t>
            </a:r>
            <a:r>
              <a:rPr lang="en-US" b="true" sz="2383">
                <a:solidFill>
                  <a:srgbClr val="4641A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carecía</a:t>
            </a:r>
            <a:r>
              <a:rPr lang="en-US" sz="2383">
                <a:solidFill>
                  <a:srgbClr val="4641A1"/>
                </a:solidFill>
                <a:latin typeface="Open Sans"/>
                <a:ea typeface="Open Sans"/>
                <a:cs typeface="Open Sans"/>
                <a:sym typeface="Open Sans"/>
              </a:rPr>
              <a:t> de una base de datos estructurada y de un sistema de subastas. Las negociaciones dependían de números de contacto escritos a mano en las descripciones. Esta informalidad generaba un desorden crítico en el catálogo, publicaciones duplicadas y la  disponibilidad real de los productos.</a:t>
            </a:r>
          </a:p>
          <a:p>
            <a:pPr algn="l">
              <a:lnSpc>
                <a:spcPts val="333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9795" y="-392106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8819" y="2505736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1207549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801769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31318" y="315311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11318" y="1086165"/>
            <a:ext cx="7620000" cy="10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Objetivo Principal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86442"/>
            <a:ext cx="11117209" cy="478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4641A1"/>
                </a:solidFill>
                <a:latin typeface="Open Sans"/>
                <a:ea typeface="Open Sans"/>
                <a:cs typeface="Open Sans"/>
                <a:sym typeface="Open Sans"/>
              </a:rPr>
              <a:t>Nuestro objetivo es resolver este escenario centralizando la operación en una base de datos relacional. Mediante bloques PL/SQL, automatizamos la lógica de negocio clave: la validación y registro de pujas, la obtención de un podio con los tres mejores postores mediante colecciones, y el cierre masivo de subastas con asignación del ganador y respaldo histórico.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51651" y="6818985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1249" y="-6976735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4045227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1210457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12513" y="2412242"/>
            <a:ext cx="5001316" cy="5001316"/>
          </a:xfrm>
          <a:custGeom>
            <a:avLst/>
            <a:gdLst/>
            <a:ahLst/>
            <a:cxnLst/>
            <a:rect r="r" b="b" t="t" l="l"/>
            <a:pathLst>
              <a:path h="5001316" w="5001316">
                <a:moveTo>
                  <a:pt x="0" y="0"/>
                </a:moveTo>
                <a:lnTo>
                  <a:pt x="5001316" y="0"/>
                </a:lnTo>
                <a:lnTo>
                  <a:pt x="5001316" y="5001317"/>
                </a:lnTo>
                <a:lnTo>
                  <a:pt x="0" y="5001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80629" y="2573692"/>
            <a:ext cx="4767269" cy="4839867"/>
          </a:xfrm>
          <a:custGeom>
            <a:avLst/>
            <a:gdLst/>
            <a:ahLst/>
            <a:cxnLst/>
            <a:rect r="r" b="b" t="t" l="l"/>
            <a:pathLst>
              <a:path h="4839867" w="4767269">
                <a:moveTo>
                  <a:pt x="0" y="0"/>
                </a:moveTo>
                <a:lnTo>
                  <a:pt x="4767270" y="0"/>
                </a:lnTo>
                <a:lnTo>
                  <a:pt x="4767270" y="4839867"/>
                </a:lnTo>
                <a:lnTo>
                  <a:pt x="0" y="48398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2767" y="2713592"/>
            <a:ext cx="6289746" cy="4560066"/>
          </a:xfrm>
          <a:custGeom>
            <a:avLst/>
            <a:gdLst/>
            <a:ahLst/>
            <a:cxnLst/>
            <a:rect r="r" b="b" t="t" l="l"/>
            <a:pathLst>
              <a:path h="4560066" w="6289746">
                <a:moveTo>
                  <a:pt x="0" y="0"/>
                </a:moveTo>
                <a:lnTo>
                  <a:pt x="6289746" y="0"/>
                </a:lnTo>
                <a:lnTo>
                  <a:pt x="6289746" y="4560066"/>
                </a:lnTo>
                <a:lnTo>
                  <a:pt x="0" y="45600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49758" y="330882"/>
            <a:ext cx="8926826" cy="10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tecnologias utilizadas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3687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8672" y="-686698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7045430" y="916479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-686095" y="-481440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67574" y="438136"/>
            <a:ext cx="7620000" cy="10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tablas principales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067574" y="1829487"/>
            <a:ext cx="7951801" cy="7428813"/>
          </a:xfrm>
          <a:custGeom>
            <a:avLst/>
            <a:gdLst/>
            <a:ahLst/>
            <a:cxnLst/>
            <a:rect r="r" b="b" t="t" l="l"/>
            <a:pathLst>
              <a:path h="7428813" w="7951801">
                <a:moveTo>
                  <a:pt x="0" y="0"/>
                </a:moveTo>
                <a:lnTo>
                  <a:pt x="7951802" y="0"/>
                </a:lnTo>
                <a:lnTo>
                  <a:pt x="7951802" y="7428813"/>
                </a:lnTo>
                <a:lnTo>
                  <a:pt x="0" y="7428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3687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8672" y="-686698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7045430" y="916479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-686095" y="-481440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48524" y="438136"/>
            <a:ext cx="7620000" cy="10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tablas principales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042140" y="1783914"/>
            <a:ext cx="10203719" cy="7103212"/>
          </a:xfrm>
          <a:custGeom>
            <a:avLst/>
            <a:gdLst/>
            <a:ahLst/>
            <a:cxnLst/>
            <a:rect r="r" b="b" t="t" l="l"/>
            <a:pathLst>
              <a:path h="7103212" w="10203719">
                <a:moveTo>
                  <a:pt x="0" y="0"/>
                </a:moveTo>
                <a:lnTo>
                  <a:pt x="10203720" y="0"/>
                </a:lnTo>
                <a:lnTo>
                  <a:pt x="10203720" y="7103211"/>
                </a:lnTo>
                <a:lnTo>
                  <a:pt x="0" y="7103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3687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8672" y="-686698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7045430" y="916479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-686095" y="-481440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48524" y="438136"/>
            <a:ext cx="7620000" cy="10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tablas principales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748518" y="1812837"/>
            <a:ext cx="10220012" cy="7445463"/>
          </a:xfrm>
          <a:custGeom>
            <a:avLst/>
            <a:gdLst/>
            <a:ahLst/>
            <a:cxnLst/>
            <a:rect r="r" b="b" t="t" l="l"/>
            <a:pathLst>
              <a:path h="7445463" w="10220012">
                <a:moveTo>
                  <a:pt x="0" y="0"/>
                </a:moveTo>
                <a:lnTo>
                  <a:pt x="10220012" y="0"/>
                </a:lnTo>
                <a:lnTo>
                  <a:pt x="10220012" y="7445463"/>
                </a:lnTo>
                <a:lnTo>
                  <a:pt x="0" y="7445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3687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8672" y="-686698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7045430" y="916479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-686095" y="-481440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88151" y="1804809"/>
            <a:ext cx="8740746" cy="7168670"/>
          </a:xfrm>
          <a:custGeom>
            <a:avLst/>
            <a:gdLst/>
            <a:ahLst/>
            <a:cxnLst/>
            <a:rect r="r" b="b" t="t" l="l"/>
            <a:pathLst>
              <a:path h="7168670" w="8740746">
                <a:moveTo>
                  <a:pt x="0" y="0"/>
                </a:moveTo>
                <a:lnTo>
                  <a:pt x="8740746" y="0"/>
                </a:lnTo>
                <a:lnTo>
                  <a:pt x="8740746" y="7168670"/>
                </a:lnTo>
                <a:lnTo>
                  <a:pt x="0" y="71686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48524" y="438136"/>
            <a:ext cx="7620000" cy="10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tablas principales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9795" y="-392106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8819" y="2505736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1207549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801769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68148">
            <a:off x="16063328" y="7696141"/>
            <a:ext cx="2774462" cy="2739782"/>
          </a:xfrm>
          <a:custGeom>
            <a:avLst/>
            <a:gdLst/>
            <a:ahLst/>
            <a:cxnLst/>
            <a:rect r="r" b="b" t="t" l="l"/>
            <a:pathLst>
              <a:path h="2739782" w="2774462">
                <a:moveTo>
                  <a:pt x="0" y="0"/>
                </a:moveTo>
                <a:lnTo>
                  <a:pt x="2774462" y="0"/>
                </a:lnTo>
                <a:lnTo>
                  <a:pt x="2774462" y="2739782"/>
                </a:lnTo>
                <a:lnTo>
                  <a:pt x="0" y="2739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60801" y="257985"/>
            <a:ext cx="2327199" cy="2663461"/>
          </a:xfrm>
          <a:custGeom>
            <a:avLst/>
            <a:gdLst/>
            <a:ahLst/>
            <a:cxnLst/>
            <a:rect r="r" b="b" t="t" l="l"/>
            <a:pathLst>
              <a:path h="2663461" w="2327199">
                <a:moveTo>
                  <a:pt x="0" y="0"/>
                </a:moveTo>
                <a:lnTo>
                  <a:pt x="2327199" y="0"/>
                </a:lnTo>
                <a:lnTo>
                  <a:pt x="2327199" y="2663461"/>
                </a:lnTo>
                <a:lnTo>
                  <a:pt x="0" y="2663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0013" y="400485"/>
            <a:ext cx="11301258" cy="181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sz="5165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¿COMO SE </a:t>
            </a:r>
            <a:r>
              <a:rPr lang="en-US" sz="5165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INTEGRAN RECORD Y VARRAY EN EL PROYECTO?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0013" y="3286793"/>
            <a:ext cx="10385467" cy="333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  <a:spcBef>
                <a:spcPct val="0"/>
              </a:spcBef>
            </a:pPr>
            <a:r>
              <a:rPr lang="en-US" sz="2689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RECORD: S</a:t>
            </a:r>
            <a:r>
              <a:rPr lang="en-US" sz="2689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e usa para empaquetar varios datos en un solo objeto. Por ejemplo, agrupa el nombre de un postor y su puja para el "podio", o los datos del ganador al cerrar una subasta. </a:t>
            </a:r>
          </a:p>
          <a:p>
            <a:pPr algn="ctr">
              <a:lnSpc>
                <a:spcPts val="3765"/>
              </a:lnSpc>
              <a:spcBef>
                <a:spcPct val="0"/>
              </a:spcBef>
            </a:pPr>
            <a:r>
              <a:rPr lang="en-US" sz="2689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VARRAY: Se usa para crear colecciones de tamaño fijo en memoria. Por ejemplo, limita el podio exactamente a los 3 mejores postores, lo que ahorra RAM y hace el sistema más rápido.</a:t>
            </a:r>
          </a:p>
          <a:p>
            <a:pPr algn="ctr">
              <a:lnSpc>
                <a:spcPts val="37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3687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8672" y="-686698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7045430" y="916479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-686095" y="-481440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83059" y="169040"/>
            <a:ext cx="2204941" cy="2023033"/>
          </a:xfrm>
          <a:custGeom>
            <a:avLst/>
            <a:gdLst/>
            <a:ahLst/>
            <a:cxnLst/>
            <a:rect r="r" b="b" t="t" l="l"/>
            <a:pathLst>
              <a:path h="2023033" w="2204941">
                <a:moveTo>
                  <a:pt x="0" y="0"/>
                </a:moveTo>
                <a:lnTo>
                  <a:pt x="2204941" y="0"/>
                </a:lnTo>
                <a:lnTo>
                  <a:pt x="2204941" y="2023033"/>
                </a:lnTo>
                <a:lnTo>
                  <a:pt x="0" y="20230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28970" y="335721"/>
            <a:ext cx="5667402" cy="128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3664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COMO SE UT</a:t>
            </a:r>
            <a:r>
              <a:rPr lang="en-US" sz="3664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ILIZAN EN EL PROYECTO BLOQUES PL SQL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3227" y="2115873"/>
            <a:ext cx="9963145" cy="127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7"/>
              </a:lnSpc>
              <a:spcBef>
                <a:spcPct val="0"/>
              </a:spcBef>
            </a:pPr>
            <a:r>
              <a:rPr lang="en-US" sz="3669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1. Registro y v</a:t>
            </a:r>
            <a:r>
              <a:rPr lang="en-US" sz="3669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alidación </a:t>
            </a:r>
            <a:r>
              <a:rPr lang="en-US" sz="3669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de ofertas en tiempo real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263" y="6103512"/>
            <a:ext cx="11657726" cy="52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3"/>
              </a:lnSpc>
              <a:spcBef>
                <a:spcPct val="0"/>
              </a:spcBef>
            </a:pPr>
            <a:r>
              <a:rPr lang="en-US" sz="3131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¿QUÉ ES UN CURSOR EXPLÍCITO E IMPLÍCITO?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263" y="6989740"/>
            <a:ext cx="13493979" cy="200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54" indent="-246927" lvl="1">
              <a:lnSpc>
                <a:spcPts val="3202"/>
              </a:lnSpc>
              <a:spcBef>
                <a:spcPct val="0"/>
              </a:spcBef>
              <a:buFont typeface="Arial"/>
              <a:buChar char="•"/>
            </a:pPr>
            <a:r>
              <a:rPr lang="en-US" sz="2287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Cursor Implícito: Es gestionado automáticamente por Oracle y sirve para procesar consultas sencillas qu</a:t>
            </a:r>
            <a:r>
              <a:rPr lang="en-US" sz="2287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e devuelven una sola fila. </a:t>
            </a:r>
          </a:p>
          <a:p>
            <a:pPr algn="l" marL="493854" indent="-246927" lvl="1">
              <a:lnSpc>
                <a:spcPts val="3202"/>
              </a:lnSpc>
              <a:spcBef>
                <a:spcPct val="0"/>
              </a:spcBef>
              <a:buFont typeface="Arial"/>
              <a:buChar char="•"/>
            </a:pPr>
            <a:r>
              <a:rPr lang="en-US" sz="2287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Cursor Explícito: Es controlado manualmente por el desarrollador (declarar, abrir, extraer y cerrar). Se utiliza para recorrer y procesar múltiples filas en memoria, una por una.</a:t>
            </a:r>
          </a:p>
          <a:p>
            <a:pPr algn="l">
              <a:lnSpc>
                <a:spcPts val="320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63269" y="3534650"/>
            <a:ext cx="7105491" cy="63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8"/>
              </a:lnSpc>
              <a:spcBef>
                <a:spcPct val="0"/>
              </a:spcBef>
            </a:pPr>
            <a:r>
              <a:rPr lang="en-US" sz="367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2. Generación del podio en memoria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3269" y="4660632"/>
            <a:ext cx="7598867" cy="63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5"/>
              </a:lnSpc>
              <a:spcBef>
                <a:spcPct val="0"/>
              </a:spcBef>
            </a:pPr>
            <a:r>
              <a:rPr lang="en-US" sz="3668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3. Cierre masivo de subastas vencidas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33100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1249" y="-6976735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4045227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1210457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70679" y="7309289"/>
            <a:ext cx="5413003" cy="3674076"/>
          </a:xfrm>
          <a:custGeom>
            <a:avLst/>
            <a:gdLst/>
            <a:ahLst/>
            <a:cxnLst/>
            <a:rect r="r" b="b" t="t" l="l"/>
            <a:pathLst>
              <a:path h="3674076" w="5413003">
                <a:moveTo>
                  <a:pt x="0" y="0"/>
                </a:moveTo>
                <a:lnTo>
                  <a:pt x="5413004" y="0"/>
                </a:lnTo>
                <a:lnTo>
                  <a:pt x="5413004" y="3674077"/>
                </a:lnTo>
                <a:lnTo>
                  <a:pt x="0" y="3674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02175" y="7646953"/>
            <a:ext cx="4509396" cy="2998748"/>
          </a:xfrm>
          <a:custGeom>
            <a:avLst/>
            <a:gdLst/>
            <a:ahLst/>
            <a:cxnLst/>
            <a:rect r="r" b="b" t="t" l="l"/>
            <a:pathLst>
              <a:path h="2998748" w="4509396">
                <a:moveTo>
                  <a:pt x="0" y="0"/>
                </a:moveTo>
                <a:lnTo>
                  <a:pt x="4509396" y="0"/>
                </a:lnTo>
                <a:lnTo>
                  <a:pt x="4509396" y="2998749"/>
                </a:lnTo>
                <a:lnTo>
                  <a:pt x="0" y="2998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03174" y="669338"/>
            <a:ext cx="6648075" cy="183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8"/>
              </a:lnSpc>
            </a:pPr>
            <a:r>
              <a:rPr lang="en-US" sz="5234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¿QUÉ SON LAS EXCEPCIONES?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943" y="3521096"/>
            <a:ext cx="3989701" cy="12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1"/>
              </a:lnSpc>
              <a:spcBef>
                <a:spcPct val="0"/>
              </a:spcBef>
            </a:pPr>
            <a:r>
              <a:rPr lang="en-US" sz="36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EXCEPCIONES</a:t>
            </a:r>
            <a:r>
              <a:rPr lang="en-US" sz="36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 PREDEFINIDAS: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51249" y="3446031"/>
            <a:ext cx="4571561" cy="138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6"/>
              </a:lnSpc>
              <a:spcBef>
                <a:spcPct val="0"/>
              </a:spcBef>
            </a:pPr>
            <a:r>
              <a:rPr lang="en-US" sz="394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EXCEPCIONES</a:t>
            </a:r>
            <a:r>
              <a:rPr lang="en-US" sz="394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 PERSONALIZADAS: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9795" y="-392106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68819" y="2505736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1207549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801769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19636" y="7365744"/>
            <a:ext cx="3434499" cy="3460453"/>
          </a:xfrm>
          <a:custGeom>
            <a:avLst/>
            <a:gdLst/>
            <a:ahLst/>
            <a:cxnLst/>
            <a:rect r="r" b="b" t="t" l="l"/>
            <a:pathLst>
              <a:path h="3460453" w="3434499">
                <a:moveTo>
                  <a:pt x="0" y="0"/>
                </a:moveTo>
                <a:lnTo>
                  <a:pt x="3434499" y="0"/>
                </a:lnTo>
                <a:lnTo>
                  <a:pt x="3434499" y="3460453"/>
                </a:lnTo>
                <a:lnTo>
                  <a:pt x="0" y="346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69269">
            <a:off x="15035806" y="5037534"/>
            <a:ext cx="1605681" cy="2177195"/>
          </a:xfrm>
          <a:custGeom>
            <a:avLst/>
            <a:gdLst/>
            <a:ahLst/>
            <a:cxnLst/>
            <a:rect r="r" b="b" t="t" l="l"/>
            <a:pathLst>
              <a:path h="2177195" w="1605681">
                <a:moveTo>
                  <a:pt x="0" y="0"/>
                </a:moveTo>
                <a:lnTo>
                  <a:pt x="1605681" y="0"/>
                </a:lnTo>
                <a:lnTo>
                  <a:pt x="1605681" y="2177195"/>
                </a:lnTo>
                <a:lnTo>
                  <a:pt x="0" y="21771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09164" y="7221958"/>
            <a:ext cx="2126641" cy="2873839"/>
          </a:xfrm>
          <a:custGeom>
            <a:avLst/>
            <a:gdLst/>
            <a:ahLst/>
            <a:cxnLst/>
            <a:rect r="r" b="b" t="t" l="l"/>
            <a:pathLst>
              <a:path h="2873839" w="2126641">
                <a:moveTo>
                  <a:pt x="0" y="0"/>
                </a:moveTo>
                <a:lnTo>
                  <a:pt x="2126642" y="0"/>
                </a:lnTo>
                <a:lnTo>
                  <a:pt x="2126642" y="2873840"/>
                </a:lnTo>
                <a:lnTo>
                  <a:pt x="0" y="2873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38535" y="481197"/>
            <a:ext cx="8670047" cy="13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4"/>
              </a:lnSpc>
            </a:pPr>
            <a:r>
              <a:rPr lang="en-US" sz="3817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¿CÓMO SE </a:t>
            </a:r>
            <a:r>
              <a:rPr lang="en-US" sz="3817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INTEGRAN LAS EXCEPCIONES EN LOS BLOQUES PL/SQL?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7336" y="2808690"/>
            <a:ext cx="8673892" cy="70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4"/>
              </a:lnSpc>
              <a:spcBef>
                <a:spcPct val="0"/>
              </a:spcBef>
            </a:pPr>
            <a:r>
              <a:rPr lang="en-US" sz="4103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1. Disparo de reglas de negocio (RAISE):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7336" y="3538650"/>
            <a:ext cx="8673892" cy="77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42"/>
              </a:lnSpc>
              <a:spcBef>
                <a:spcPct val="0"/>
              </a:spcBef>
            </a:pPr>
            <a:r>
              <a:rPr lang="en-US" sz="453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2. Captura de errores del sistema: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0013" y="5057889"/>
            <a:ext cx="11414688" cy="147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7"/>
              </a:lnSpc>
              <a:spcBef>
                <a:spcPct val="0"/>
              </a:spcBef>
            </a:pPr>
            <a:r>
              <a:rPr lang="en-US" sz="4219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3. Aislamiento de errores en lotes (Bloques anidados):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3687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68672" y="-6866980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7045430" y="916479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-686095" y="-481440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61052" y="403639"/>
            <a:ext cx="11394944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¿Que son las funciones, paquetes, triggers y procedimientos?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56409" y="3426849"/>
            <a:ext cx="324612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funciones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8362" y="7119216"/>
            <a:ext cx="342221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paquetes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64207" y="3426849"/>
            <a:ext cx="280797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triggers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14605" y="7119216"/>
            <a:ext cx="530922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procedimientos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33100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1249" y="-6976735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4045227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1210457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96421" y="82617"/>
            <a:ext cx="7620000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como se podrian implementar estos elementos mas adelante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4134" y="2697600"/>
            <a:ext cx="8757214" cy="465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5"/>
              </a:lnSpc>
              <a:spcBef>
                <a:spcPct val="0"/>
              </a:spcBef>
            </a:pPr>
            <a:r>
              <a:rPr lang="en-US" sz="3282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La arquitectura centralizaria la lógica de negocio mediante triggers, paquetes, funciones y procedimientos, lo que garantiza transacciones seguras y reportes en tiempo real; sin embargo, requiere gestionar riesgos de rendimiento, depuración compleja por ejecuciones invisibles y fallos de seguridad por inyección SQL o privilegios mal asignados.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649698" y="7350287"/>
            <a:ext cx="3746532" cy="2542959"/>
          </a:xfrm>
          <a:custGeom>
            <a:avLst/>
            <a:gdLst/>
            <a:ahLst/>
            <a:cxnLst/>
            <a:rect r="r" b="b" t="t" l="l"/>
            <a:pathLst>
              <a:path h="2542959" w="3746532">
                <a:moveTo>
                  <a:pt x="0" y="0"/>
                </a:moveTo>
                <a:lnTo>
                  <a:pt x="3746532" y="0"/>
                </a:lnTo>
                <a:lnTo>
                  <a:pt x="3746532" y="2542959"/>
                </a:lnTo>
                <a:lnTo>
                  <a:pt x="0" y="2542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33100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1249" y="-6976735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4045227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1210457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6420" y="1189602"/>
            <a:ext cx="7620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resumen y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6660" y="3126986"/>
            <a:ext cx="10486421" cy="397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sz="3214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El proyecto centralizara y automatizara un marketplace chileno mediante Oracle y PL/SQL para eliminar la desorganizada gestion por mensajes y llamadas. Enfocado en el modelado de datos y logica de servidor, estructurara el catalogo, asegurara el registro de pujas e historial, y automatizara el cierre de subastas, asignacion de ganadores y el podio de mejores postores.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197932" y="4519000"/>
            <a:ext cx="5230389" cy="3125261"/>
          </a:xfrm>
          <a:custGeom>
            <a:avLst/>
            <a:gdLst/>
            <a:ahLst/>
            <a:cxnLst/>
            <a:rect r="r" b="b" t="t" l="l"/>
            <a:pathLst>
              <a:path h="3125261" w="5230389">
                <a:moveTo>
                  <a:pt x="0" y="0"/>
                </a:moveTo>
                <a:lnTo>
                  <a:pt x="5230389" y="0"/>
                </a:lnTo>
                <a:lnTo>
                  <a:pt x="5230389" y="3125261"/>
                </a:lnTo>
                <a:lnTo>
                  <a:pt x="0" y="3125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58" t="0" r="-4753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33100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1249" y="-6976735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4045227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1210457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61824" y="895350"/>
            <a:ext cx="76200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impacto en 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80422" y="3285149"/>
            <a:ext cx="10744745" cy="3988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8"/>
              </a:lnSpc>
              <a:spcBef>
                <a:spcPct val="0"/>
              </a:spcBef>
            </a:pPr>
            <a:r>
              <a:rPr lang="en-US" sz="3756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Reemplazamos la gestion informal por un sistema centralizado en base de datos que garantiza orden, confiabilidad y validacion de pujas en tiempo real, automatizando con eficiencia el cierre oportuno de subastas y la asignacion de ganadores.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33100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1249" y="-6976735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4045227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1210457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24950" y="1428898"/>
            <a:ext cx="7620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recomendaciones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028" y="3162448"/>
            <a:ext cx="8679378" cy="437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4"/>
              </a:lnSpc>
              <a:spcBef>
                <a:spcPct val="0"/>
              </a:spcBef>
            </a:pPr>
            <a:r>
              <a:rPr lang="en-US" sz="3081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Implementacion de procedimientos mensuales para archivar subastas antiguas y mantener el rendimiento de las tablas activas, junto con triggers complejos que registran en tablas historicas el usuario, fecha, hora y valores previos tras cada modificacion o puja, garantizando transparencia y previniendo fraudes.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33100" y="3032539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20" y="0"/>
                </a:lnTo>
                <a:lnTo>
                  <a:pt x="9899520" y="9899520"/>
                </a:lnTo>
                <a:lnTo>
                  <a:pt x="0" y="989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51249" y="-6976735"/>
            <a:ext cx="9899520" cy="9899520"/>
          </a:xfrm>
          <a:custGeom>
            <a:avLst/>
            <a:gdLst/>
            <a:ahLst/>
            <a:cxnLst/>
            <a:rect r="r" b="b" t="t" l="l"/>
            <a:pathLst>
              <a:path h="9899520" w="9899520">
                <a:moveTo>
                  <a:pt x="0" y="0"/>
                </a:moveTo>
                <a:lnTo>
                  <a:pt x="9899519" y="0"/>
                </a:lnTo>
                <a:lnTo>
                  <a:pt x="9899519" y="9899519"/>
                </a:lnTo>
                <a:lnTo>
                  <a:pt x="0" y="989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40451">
            <a:off x="14045227" y="9091524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0"/>
                </a:moveTo>
                <a:lnTo>
                  <a:pt x="3626188" y="0"/>
                </a:lnTo>
                <a:lnTo>
                  <a:pt x="3626188" y="1786722"/>
                </a:lnTo>
                <a:lnTo>
                  <a:pt x="0" y="178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29944">
            <a:off x="1210457" y="-893361"/>
            <a:ext cx="3626188" cy="1786722"/>
          </a:xfrm>
          <a:custGeom>
            <a:avLst/>
            <a:gdLst/>
            <a:ahLst/>
            <a:cxnLst/>
            <a:rect r="r" b="b" t="t" l="l"/>
            <a:pathLst>
              <a:path h="1786722" w="3626188">
                <a:moveTo>
                  <a:pt x="0" y="1786722"/>
                </a:moveTo>
                <a:lnTo>
                  <a:pt x="3626188" y="1786722"/>
                </a:lnTo>
                <a:lnTo>
                  <a:pt x="3626188" y="0"/>
                </a:lnTo>
                <a:lnTo>
                  <a:pt x="0" y="0"/>
                </a:lnTo>
                <a:lnTo>
                  <a:pt x="0" y="178672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80243" y="4378028"/>
            <a:ext cx="5764503" cy="749385"/>
          </a:xfrm>
          <a:custGeom>
            <a:avLst/>
            <a:gdLst/>
            <a:ahLst/>
            <a:cxnLst/>
            <a:rect r="r" b="b" t="t" l="l"/>
            <a:pathLst>
              <a:path h="749385" w="5764503">
                <a:moveTo>
                  <a:pt x="0" y="0"/>
                </a:moveTo>
                <a:lnTo>
                  <a:pt x="5764503" y="0"/>
                </a:lnTo>
                <a:lnTo>
                  <a:pt x="5764503" y="749386"/>
                </a:lnTo>
                <a:lnTo>
                  <a:pt x="0" y="7493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46444" y="1780152"/>
            <a:ext cx="3796714" cy="4687301"/>
          </a:xfrm>
          <a:custGeom>
            <a:avLst/>
            <a:gdLst/>
            <a:ahLst/>
            <a:cxnLst/>
            <a:rect r="r" b="b" t="t" l="l"/>
            <a:pathLst>
              <a:path h="4687301" w="3796714">
                <a:moveTo>
                  <a:pt x="0" y="0"/>
                </a:moveTo>
                <a:lnTo>
                  <a:pt x="3796714" y="0"/>
                </a:lnTo>
                <a:lnTo>
                  <a:pt x="3796714" y="4687302"/>
                </a:lnTo>
                <a:lnTo>
                  <a:pt x="0" y="46873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2495" y="2789434"/>
            <a:ext cx="76200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4641A1"/>
                </a:solidFill>
                <a:latin typeface="Norwester"/>
                <a:ea typeface="Norwester"/>
                <a:cs typeface="Norwester"/>
                <a:sym typeface="Norwester"/>
              </a:rPr>
              <a:t>Bloques pl/sql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DAHVSbgr0wY</dc:identifier>
  <dcterms:modified xsi:type="dcterms:W3CDTF">2011-08-01T06:04:30Z</dcterms:modified>
  <cp:revision>1</cp:revision>
  <dc:title>Presentación con Plantilla</dc:title>
</cp:coreProperties>
</file>